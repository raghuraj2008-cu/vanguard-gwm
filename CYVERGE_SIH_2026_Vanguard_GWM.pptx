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502920"/>
          </a:xfrm>
          <a:prstGeom prst="roundRect">
            <a:avLst/>
          </a:prstGeom>
          <a:solidFill>
            <a:srgbClr val="E6EEF8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383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2537"/>
                </a:solidFill>
              </a:defRPr>
            </a:pPr>
            <a:r>
              <a:t>APEX CODERS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320040"/>
            <a:ext cx="5852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0" y="347472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537"/>
                </a:solidFill>
              </a:defRPr>
            </a:pPr>
            <a:r>
              <a:t>TITLE PAGE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499055" cy="502920"/>
          </a:xfrm>
          <a:prstGeom prst="roundRect">
            <a:avLst/>
          </a:prstGeom>
          <a:solidFill>
            <a:srgbClr val="E6EEF8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347472"/>
            <a:ext cx="2499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2537"/>
                </a:solidFill>
              </a:defRPr>
            </a:pPr>
            <a:r>
              <a:t>SMART INDIA HACKATHON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4008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@SIH Idea submission - Template                                                                                                                                             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05840"/>
            <a:ext cx="10728655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188720"/>
            <a:ext cx="50292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3258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F2537"/>
                </a:solidFill>
              </a:defRPr>
            </a:pPr>
            <a:r>
              <a:t>TEAM MEMBERS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Raghuraj Pratap Singh (Team Leader)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Ayush Singh (Member)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Himanshu Kumar (Member)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Rohit Gour (Member)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Astha Soni (Member)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Simran Jaiswal (Member)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188720"/>
            <a:ext cx="4937760" cy="48463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3258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F2537"/>
                </a:solidFill>
              </a:defRPr>
            </a:pPr>
            <a:r>
              <a:t>PROJECT METADATA</a:t>
            </a:r>
          </a:p>
          <a:p>
            <a:pPr>
              <a:spcAft>
                <a:spcPts val="600"/>
              </a:spcAft>
              <a:defRPr sz="950" b="1">
                <a:solidFill>
                  <a:srgbClr val="1E293B"/>
                </a:solidFill>
              </a:defRPr>
            </a:pPr>
            <a:r>
              <a:t>• Problem Statement ID: SIH26-PS153</a:t>
            </a:r>
          </a:p>
          <a:p>
            <a:pPr>
              <a:spcAft>
                <a:spcPts val="600"/>
              </a:spcAft>
              <a:defRPr sz="950" b="1">
                <a:solidFill>
                  <a:srgbClr val="1E293B"/>
                </a:solidFill>
              </a:defRPr>
            </a:pPr>
            <a:r>
              <a:t>• Problem Statement Title: Graph World Model for Predictive Cyber Attack Forecasting</a:t>
            </a:r>
          </a:p>
          <a:p>
            <a:pPr>
              <a:spcAft>
                <a:spcPts val="600"/>
              </a:spcAft>
              <a:defRPr sz="950" b="1">
                <a:solidFill>
                  <a:srgbClr val="1E293B"/>
                </a:solidFill>
              </a:defRPr>
            </a:pPr>
            <a:r>
              <a:t>• Theme: Cybersecurity &amp; Critical Information Infrastructure</a:t>
            </a:r>
          </a:p>
          <a:p>
            <a:pPr>
              <a:spcAft>
                <a:spcPts val="600"/>
              </a:spcAft>
              <a:defRPr sz="950" b="1">
                <a:solidFill>
                  <a:srgbClr val="1E293B"/>
                </a:solidFill>
              </a:defRPr>
            </a:pPr>
            <a:r>
              <a:t>• PS Category: Software</a:t>
            </a:r>
          </a:p>
          <a:p>
            <a:pPr>
              <a:spcAft>
                <a:spcPts val="600"/>
              </a:spcAft>
              <a:defRPr sz="950" b="1">
                <a:solidFill>
                  <a:srgbClr val="1E293B"/>
                </a:solidFill>
              </a:defRPr>
            </a:pPr>
            <a:r>
              <a:t>• Team ID &amp; Name: SIH2026 PS153 APEX / APEX CODERS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502920"/>
          </a:xfrm>
          <a:prstGeom prst="roundRect">
            <a:avLst/>
          </a:prstGeom>
          <a:solidFill>
            <a:srgbClr val="E6EEF8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383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2537"/>
                </a:solidFill>
              </a:defRPr>
            </a:pPr>
            <a:r>
              <a:t>APEX CODERS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320040"/>
            <a:ext cx="5852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0" y="347472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537"/>
                </a:solidFill>
              </a:defRPr>
            </a:pPr>
            <a:r>
              <a:t>IDEA TITLE: VANGUARD-GWM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499055" cy="502920"/>
          </a:xfrm>
          <a:prstGeom prst="roundRect">
            <a:avLst/>
          </a:prstGeom>
          <a:solidFill>
            <a:srgbClr val="E6EEF8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347472"/>
            <a:ext cx="2499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2537"/>
                </a:solidFill>
              </a:defRPr>
            </a:pPr>
            <a:r>
              <a:t>SMART INDIA HACKATHON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4008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@SIH Idea submission - Template                                                                                                                                             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05840"/>
            <a:ext cx="10728655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188720"/>
            <a:ext cx="10149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0E7490"/>
                </a:solidFill>
              </a:defRPr>
            </a:pPr>
            <a:r>
              <a:t>• Proposed Solution: Vanguard-GWM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  Models computer networks as evolving temporal graphs to forecast multi-stage APT attacks before host compromise occurs.</a:t>
            </a:r>
          </a:p>
          <a:p>
            <a:pPr>
              <a:defRPr sz="1100" b="1">
                <a:solidFill>
                  <a:srgbClr val="0E7490"/>
                </a:solidFill>
              </a:defRPr>
            </a:pPr>
            <a:r>
              <a:t>• Core Pipeline &amp; Workflow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  • Ingests dual-level telemetry (flow aggregates + transport header geometry). • Constructs dynamic network graph G_t using Polars and NetworkX. • Employs PyTorch Geometric GATv2 spatial encoders and Causal Temporal Transformers to predict state transitions and execute K-step autoregressive rollouts.</a:t>
            </a:r>
          </a:p>
          <a:p>
            <a:pPr>
              <a:defRPr sz="1100" b="1">
                <a:solidFill>
                  <a:srgbClr val="0E7490"/>
                </a:solidFill>
              </a:defRPr>
            </a:pPr>
            <a:r>
              <a:t>• How it Addresses the Core Challenge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  • Replaces static, reactive classifiers (Random Forest / LSTM) that trigger post-facto. • Delivers +180s early warning during the reconnaissance phase, stopping multi-stage APTs prior to lateral movement.</a:t>
            </a:r>
          </a:p>
          <a:p>
            <a:pPr>
              <a:defRPr sz="1100" b="1">
                <a:solidFill>
                  <a:srgbClr val="0E7490"/>
                </a:solidFill>
              </a:defRPr>
            </a:pPr>
            <a:r>
              <a:t>• Innovation &amp; Uniqueness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  • True predictive world model rather than a reactive signature filter. • Payload-agnostic telemetry fusion with built-in Explainability (XAI) and What-If containment simulation.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502920"/>
          </a:xfrm>
          <a:prstGeom prst="roundRect">
            <a:avLst/>
          </a:prstGeom>
          <a:solidFill>
            <a:srgbClr val="E6EEF8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383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2537"/>
                </a:solidFill>
              </a:defRPr>
            </a:pPr>
            <a:r>
              <a:t>APEX CODERS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320040"/>
            <a:ext cx="5852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0" y="347472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537"/>
                </a:solidFill>
              </a:defRPr>
            </a:pPr>
            <a:r>
              <a:t>TECHNICAL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499055" cy="502920"/>
          </a:xfrm>
          <a:prstGeom prst="roundRect">
            <a:avLst/>
          </a:prstGeom>
          <a:solidFill>
            <a:srgbClr val="E6EEF8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347472"/>
            <a:ext cx="2499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2537"/>
                </a:solidFill>
              </a:defRPr>
            </a:pPr>
            <a:r>
              <a:t>SMART INDIA HACKATHON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4008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@SIH Idea submission - Template                                                                                                                                             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05840"/>
            <a:ext cx="10728655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188720"/>
            <a:ext cx="2377440" cy="1005840"/>
          </a:xfrm>
          <a:prstGeom prst="roundRect">
            <a:avLst/>
          </a:prstGeom>
          <a:solidFill>
            <a:srgbClr val="E6EEF8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234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2537"/>
                </a:solidFill>
              </a:defRPr>
            </a:pPr>
            <a:r>
              <a:t>1. Telemetry Ingestion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Scapy, PyShark,</a:t>
            </a:r>
            <a:br/>
            <a:r>
              <a:t>Polars (Δt=1-5s)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188720"/>
            <a:ext cx="2377440" cy="1005840"/>
          </a:xfrm>
          <a:prstGeom prst="roundRect">
            <a:avLst/>
          </a:prstGeom>
          <a:solidFill>
            <a:srgbClr val="E6EEF8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234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2537"/>
                </a:solidFill>
              </a:defRPr>
            </a:pPr>
            <a:r>
              <a:t>2. Graph Construction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Dynamic Graph G_t</a:t>
            </a:r>
            <a:br/>
            <a:r>
              <a:t>(Nodes &amp; Edges)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2377440" cy="1005840"/>
          </a:xfrm>
          <a:prstGeom prst="roundRect">
            <a:avLst/>
          </a:prstGeom>
          <a:solidFill>
            <a:srgbClr val="E6EEF8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234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2537"/>
                </a:solidFill>
              </a:defRPr>
            </a:pPr>
            <a:r>
              <a:t>3. World Model Rollout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GATv2 + Causal</a:t>
            </a:r>
            <a:br/>
            <a:r>
              <a:t>Transformer (K-steps)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188720"/>
            <a:ext cx="2377440" cy="1005840"/>
          </a:xfrm>
          <a:prstGeom prst="roundRect">
            <a:avLst/>
          </a:prstGeom>
          <a:solidFill>
            <a:srgbClr val="E6EEF8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234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2537"/>
                </a:solidFill>
              </a:defRPr>
            </a:pPr>
            <a:r>
              <a:t>4. SDN Actuation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OpenFlow 1.3</a:t>
            </a:r>
            <a:br/>
            <a:r>
              <a:t>QUARANTINE / DROP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50" b="1">
                <a:solidFill>
                  <a:srgbClr val="0E7490"/>
                </a:solidFill>
              </a:defRPr>
            </a:pPr>
            <a:r>
              <a:t>• Methodology &amp; Implementation Flow: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• Continuous streaming telemetry via Scapy/PyShark/Polars. Extracts rolling window metrics to construct dynamic graph G_t. • PyTorch Geometric GATv2 encoder compresses network topology into latent state z_t; Causal Temporal Transformer learns transition dynamics P(z_{t+1}|z_t) [World Model core]. • Performs K-step forward simulation predicting risk score and staging automated OpenFlow 1.3 SDN DROP rules via a Streamlit SOC interface.</a:t>
            </a:r>
          </a:p>
          <a:p>
            <a:pPr>
              <a:spcAft>
                <a:spcPts val="400"/>
              </a:spcAft>
              <a:defRPr sz="1050" b="1">
                <a:solidFill>
                  <a:srgbClr val="0E7490"/>
                </a:solidFill>
              </a:defRPr>
            </a:pPr>
            <a:r>
              <a:t>• Technology Stack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• Frontend/UI: Streamlit, Plotly | Backend: Python FastAPI | AI/ML Framework: PyTorch, PyTorch Geometric | Database: NetworkX, Polars Dataframes | Networking API: OpenFlow 1.3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502920"/>
          </a:xfrm>
          <a:prstGeom prst="roundRect">
            <a:avLst/>
          </a:prstGeom>
          <a:solidFill>
            <a:srgbClr val="E6EEF8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383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2537"/>
                </a:solidFill>
              </a:defRPr>
            </a:pPr>
            <a:r>
              <a:t>APEX CODERS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320040"/>
            <a:ext cx="5852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0" y="347472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537"/>
                </a:solidFill>
              </a:defRPr>
            </a:pPr>
            <a:r>
              <a:t>FEASIBILITY AND VIABILITY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499055" cy="502920"/>
          </a:xfrm>
          <a:prstGeom prst="roundRect">
            <a:avLst/>
          </a:prstGeom>
          <a:solidFill>
            <a:srgbClr val="E6EEF8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347472"/>
            <a:ext cx="2499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2537"/>
                </a:solidFill>
              </a:defRPr>
            </a:pPr>
            <a:r>
              <a:t>SMART INDIA HACKATHON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4008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@SIH Idea submission - Template                                                                                                                                             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05840"/>
            <a:ext cx="10728655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188720"/>
            <a:ext cx="5029200" cy="4846320"/>
          </a:xfrm>
          <a:prstGeom prst="roundRect">
            <a:avLst/>
          </a:prstGeom>
          <a:solidFill>
            <a:srgbClr val="FF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3258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B91C1C"/>
                </a:solidFill>
              </a:defRPr>
            </a:pPr>
            <a:r>
              <a:t>POTENTIAL CHALLENGES &amp; RISKS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• Telemetry Parsing Latency:</a:t>
            </a:r>
          </a:p>
          <a:p>
            <a:pPr>
              <a:spcAft>
                <a:spcPts val="300"/>
              </a:spcAft>
              <a:defRPr sz="850">
                <a:solidFill>
                  <a:srgbClr val="46505F"/>
                </a:solidFill>
              </a:defRPr>
            </a:pPr>
            <a:r>
              <a:t>  Slow PCAP processing during live demo. Fix: Pre-extract feature matrices ahead of time and use Polars for high-speed streaming dataframes.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• Graph Over-smoothing:</a:t>
            </a:r>
          </a:p>
          <a:p>
            <a:pPr>
              <a:spcAft>
                <a:spcPts val="300"/>
              </a:spcAft>
              <a:defRPr sz="850">
                <a:solidFill>
                  <a:srgbClr val="46505F"/>
                </a:solidFill>
              </a:defRPr>
            </a:pPr>
            <a:r>
              <a:t>  GAT layers losing separation on large networks. Fix: Use a 2-3 layer GAT with InfoNCE contrastive loss over subgraphs.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• Autoregressive Latent Drift:</a:t>
            </a:r>
          </a:p>
          <a:p>
            <a:pPr>
              <a:spcAft>
                <a:spcPts val="300"/>
              </a:spcAft>
              <a:defRPr sz="850">
                <a:solidFill>
                  <a:srgbClr val="46505F"/>
                </a:solidFill>
              </a:defRPr>
            </a:pPr>
            <a:r>
              <a:t>  Drift accumulating beyond K&gt;5 steps. Fix: Cap rollout horizon at K=3-5 time windows and add temporal consistency regularizers.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188720"/>
            <a:ext cx="4937760" cy="48463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3258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47857"/>
                </a:solidFill>
              </a:defRPr>
            </a:pPr>
            <a:r>
              <a:t>FEASIBILITY &amp; PROTOTYPE SCOPE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• Verified Performance:</a:t>
            </a:r>
          </a:p>
          <a:p>
            <a:pPr>
              <a:spcAft>
                <a:spcPts val="400"/>
              </a:spcAft>
              <a:defRPr sz="850">
                <a:solidFill>
                  <a:srgbClr val="46505F"/>
                </a:solidFill>
              </a:defRPr>
            </a:pPr>
            <a:r>
              <a:t>  Fully prototyped with sub-50ms inference latency (36.4 ms), operating entirely offline/air-gapped without cloud API dependencies.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• Prototype Scope Pipeline:</a:t>
            </a:r>
          </a:p>
          <a:p>
            <a:pPr>
              <a:spcAft>
                <a:spcPts val="400"/>
              </a:spcAft>
              <a:defRPr sz="850">
                <a:solidFill>
                  <a:srgbClr val="46505F"/>
                </a:solidFill>
              </a:defRPr>
            </a:pPr>
            <a:r>
              <a:t>  Telemetry Ingestion ➔ OCSF/Feature Slicing ➔ GATv2 Encoder ➔ World Model Core ➔ SDN Enforcer.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• Deployment Readiness:</a:t>
            </a:r>
          </a:p>
          <a:p>
            <a:pPr>
              <a:spcAft>
                <a:spcPts val="400"/>
              </a:spcAft>
              <a:defRPr sz="850">
                <a:solidFill>
                  <a:srgbClr val="46505F"/>
                </a:solidFill>
              </a:defRPr>
            </a:pPr>
            <a:r>
              <a:t>  Pinned Docker environment, automated unit testing suite, and complete GitHub repository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502920"/>
          </a:xfrm>
          <a:prstGeom prst="roundRect">
            <a:avLst/>
          </a:prstGeom>
          <a:solidFill>
            <a:srgbClr val="E6EEF8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383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2537"/>
                </a:solidFill>
              </a:defRPr>
            </a:pPr>
            <a:r>
              <a:t>APEX CODERS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320040"/>
            <a:ext cx="5852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0" y="347472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537"/>
                </a:solidFill>
              </a:defRPr>
            </a:pPr>
            <a:r>
              <a:t>IMPACT AND BENEFITS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499055" cy="502920"/>
          </a:xfrm>
          <a:prstGeom prst="roundRect">
            <a:avLst/>
          </a:prstGeom>
          <a:solidFill>
            <a:srgbClr val="E6EEF8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347472"/>
            <a:ext cx="2499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2537"/>
                </a:solidFill>
              </a:defRPr>
            </a:pPr>
            <a:r>
              <a:t>SMART INDIA HACKATHON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4008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@SIH Idea submission - Template                                                                                                                                             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05840"/>
            <a:ext cx="10728655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188720"/>
            <a:ext cx="5029200" cy="48463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3258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F46E5"/>
                </a:solidFill>
              </a:defRPr>
            </a:pPr>
            <a:r>
              <a:t>POTENTIAL IMPACT ON TARGET AUDIENCE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• Enterprise SOCs &amp; CII:</a:t>
            </a:r>
          </a:p>
          <a:p>
            <a:pPr>
              <a:spcAft>
                <a:spcPts val="400"/>
              </a:spcAft>
              <a:defRPr sz="850">
                <a:solidFill>
                  <a:srgbClr val="46505F"/>
                </a:solidFill>
              </a:defRPr>
            </a:pPr>
            <a:r>
              <a:t>  Shifts cybersecurity operations completely from reactive alert triage to proactive, predictive defense.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• Eliminates Alert Fatigue:</a:t>
            </a:r>
          </a:p>
          <a:p>
            <a:pPr>
              <a:spcAft>
                <a:spcPts val="400"/>
              </a:spcAft>
              <a:defRPr sz="850">
                <a:solidFill>
                  <a:srgbClr val="46505F"/>
                </a:solidFill>
              </a:defRPr>
            </a:pPr>
            <a:r>
              <a:t>  Groups thousands of fragmented log entries into a single, cohesive kill-chain trajectory narrative.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• National &amp; Defense Impact:</a:t>
            </a:r>
          </a:p>
          <a:p>
            <a:pPr>
              <a:spcAft>
                <a:spcPts val="400"/>
              </a:spcAft>
              <a:defRPr sz="850">
                <a:solidFill>
                  <a:srgbClr val="46505F"/>
                </a:solidFill>
              </a:defRPr>
            </a:pPr>
            <a:r>
              <a:t>  Secures critical national infrastructure against stealthy, zero-day Advanced Persistent Threats (APTs).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188720"/>
            <a:ext cx="4937760" cy="48463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3258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47857"/>
                </a:solidFill>
              </a:defRPr>
            </a:pPr>
            <a:r>
              <a:t>BENEFITS &amp; QUANTIFIED OUTCOMES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• Proactive Lead Time:</a:t>
            </a:r>
          </a:p>
          <a:p>
            <a:pPr>
              <a:spcAft>
                <a:spcPts val="400"/>
              </a:spcAft>
              <a:defRPr sz="850">
                <a:solidFill>
                  <a:srgbClr val="46505F"/>
                </a:solidFill>
              </a:defRPr>
            </a:pPr>
            <a:r>
              <a:t>  +180s to +600s early warning during initial reconnaissance with 97.9% multi-stage APT recall[cite: 1] (2.0% FPR[cite: 1]).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• Decision Support:</a:t>
            </a:r>
          </a:p>
          <a:p>
            <a:pPr>
              <a:spcAft>
                <a:spcPts val="400"/>
              </a:spcAft>
              <a:defRPr sz="850">
                <a:solidFill>
                  <a:srgbClr val="46505F"/>
                </a:solidFill>
              </a:defRPr>
            </a:pPr>
            <a:r>
              <a:t>  What-If simulation lets analysts test host quarantine actions (ΔRisk = -61.1%[cite: 1]) before acting.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• Economic Value:</a:t>
            </a:r>
          </a:p>
          <a:p>
            <a:pPr>
              <a:spcAft>
                <a:spcPts val="400"/>
              </a:spcAft>
              <a:defRPr sz="850">
                <a:solidFill>
                  <a:srgbClr val="46505F"/>
                </a:solidFill>
              </a:defRPr>
            </a:pPr>
            <a:r>
              <a:t>  Protects critical infrastructure, minimizes breach costs, and prevents analyst burnout.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502920"/>
          </a:xfrm>
          <a:prstGeom prst="roundRect">
            <a:avLst/>
          </a:prstGeom>
          <a:solidFill>
            <a:srgbClr val="E6EEF8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383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2537"/>
                </a:solidFill>
              </a:defRPr>
            </a:pPr>
            <a:r>
              <a:t>APEX CODERS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320040"/>
            <a:ext cx="5852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0" y="347472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537"/>
                </a:solidFill>
              </a:defRPr>
            </a:pPr>
            <a:r>
              <a:t>RESEARCH AND REFERENCES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499055" cy="502920"/>
          </a:xfrm>
          <a:prstGeom prst="roundRect">
            <a:avLst/>
          </a:prstGeom>
          <a:solidFill>
            <a:srgbClr val="E6EEF8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347472"/>
            <a:ext cx="2499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2537"/>
                </a:solidFill>
              </a:defRPr>
            </a:pPr>
            <a:r>
              <a:t>SMART INDIA HACKATHON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4008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</a:defRPr>
            </a:pPr>
            <a:r>
              <a:t>@SIH Idea submission - Template                                                                                                                                             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005840"/>
            <a:ext cx="10728655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188720"/>
            <a:ext cx="493776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F2537"/>
                </a:solidFill>
              </a:defRPr>
            </a:pPr>
            <a:r>
              <a:t>PRIMARY BENCHMARK DATASETS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CSE-CIC-IDS2018 and CTU-13 network traffic datasets.</a:t>
            </a:r>
            <a:br/>
            <a:r>
              <a:t>• Attack timelines divided into temporal windows to build sequential network states and ground-truth state transitions.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188720"/>
            <a:ext cx="493776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28016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F2537"/>
                </a:solidFill>
              </a:defRPr>
            </a:pPr>
            <a:r>
              <a:t>EVALUATION METHODOLOGY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Held-out attack variants to measure unseen-attack generalization.</a:t>
            </a:r>
            <a:br/>
            <a:r>
              <a:t>• Benchmarked against Logistic Regression &amp; Random Forest baselines across Precision, Recall, F1, and Predictive Lead Time[cite: 1].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749039"/>
            <a:ext cx="493776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840479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F2537"/>
                </a:solidFill>
              </a:defRPr>
            </a:pPr>
            <a:r>
              <a:t>CORE ACADEMIC REFERENCES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Ha, D., &amp; Schmidhuber, J. (2018). 'World Models.' arXiv:1803.10122.</a:t>
            </a:r>
            <a:br/>
            <a:r>
              <a:t>• Velickovic, P., et al. (2018). 'Graph Attention Networks.' ICLR.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49039"/>
            <a:ext cx="493776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840479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F2537"/>
                </a:solidFill>
              </a:defRPr>
            </a:pPr>
            <a:r>
              <a:t>PROJECT REPOSITORY &amp; DOCS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GitHub Repository: github.com/raghuraj2008-cu/Vanguard-GWM[cite: 1]</a:t>
            </a:r>
            <a:br/>
            <a:r>
              <a:t>• IEEE Conference Manuscript: Vanguard_GWM_IEEE_Conference_Paper.pdf[cite: 1]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